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30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6400800" cy="6400800"/>
          </a:xfrm>
          <a:prstGeom prst="ellipse">
            <a:avLst/>
          </a:prstGeom>
          <a:solidFill>
            <a:srgbClr val="0B4F6C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00A896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233172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VAIDYAVANI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33756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A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phone-first voice + OCR assistant that turns spoken prescriptions and paper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A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into one structured, shareable patient history — built for India's tier-2/3 hospitals.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IQOO RESKILL HACKATHON — IDEA SUBMISSION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59893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8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Srinath Balakrishnan  •  Pranesh S  •  Umasuthan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Care is fragmented the moment it leaves the doctor's pen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06040" cy="2880360"/>
          </a:xfrm>
          <a:prstGeom prst="roundRect">
            <a:avLst>
              <a:gd name="adj" fmla="val 4211"/>
            </a:avLst>
          </a:prstGeom>
          <a:solidFill>
            <a:srgbClr val="F2F7F7"/>
          </a:solidFill>
          <a:ln/>
          <a:effectLst>
            <a:outerShdw sx="100000" sy="100000" kx="0" ky="0" algn="bl" rotWithShape="0" blurRad="101600" dist="38100" dir="5400000">
              <a:srgbClr val="1B2B2E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075688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0756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dirty="0">
                <a:solidFill>
                  <a:srgbClr val="0B4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</a:t>
            </a:r>
            <a:endParaRPr lang="en-US" sz="156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788920"/>
            <a:ext cx="2093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by default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metro chains, most tier-2/3 hospitals still run on handwritten prescriptions and disconnected paper records.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10712" y="1783080"/>
            <a:ext cx="2606040" cy="2880360"/>
          </a:xfrm>
          <a:prstGeom prst="roundRect">
            <a:avLst>
              <a:gd name="adj" fmla="val 4211"/>
            </a:avLst>
          </a:prstGeom>
          <a:solidFill>
            <a:srgbClr val="F2F7F7"/>
          </a:solidFill>
          <a:ln/>
          <a:effectLst>
            <a:outerShdw sx="100000" sy="100000" kx="0" ky="0" algn="bl" rotWithShape="0" blurRad="101600" dist="38100" dir="5400000">
              <a:srgbClr val="1B2B2E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703320" y="2075688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03320" y="20756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dirty="0">
                <a:solidFill>
                  <a:srgbClr val="0B4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📁</a:t>
            </a:r>
            <a:endParaRPr lang="en-US" sz="1560" dirty="0"/>
          </a:p>
        </p:txBody>
      </p:sp>
      <p:sp>
        <p:nvSpPr>
          <p:cNvPr id="12" name="Text 10"/>
          <p:cNvSpPr txBox="1"/>
          <p:nvPr/>
        </p:nvSpPr>
        <p:spPr>
          <a:xfrm>
            <a:off x="3666744" y="2788920"/>
            <a:ext cx="2093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lives in a shoebox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3666744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patient's record is split across three clinics and a folder — not one app a new doctor can open.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72784" y="1783080"/>
            <a:ext cx="2606040" cy="2880360"/>
          </a:xfrm>
          <a:prstGeom prst="roundRect">
            <a:avLst>
              <a:gd name="adj" fmla="val 4211"/>
            </a:avLst>
          </a:prstGeom>
          <a:solidFill>
            <a:srgbClr val="F2F7F7"/>
          </a:solidFill>
          <a:ln/>
          <a:effectLst>
            <a:outerShdw sx="100000" sy="100000" kx="0" ky="0" algn="bl" rotWithShape="0" blurRad="101600" dist="38100" dir="5400000">
              <a:srgbClr val="1B2B2E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65392" y="2075688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65392" y="20756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dirty="0">
                <a:solidFill>
                  <a:srgbClr val="0B4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⏱️</a:t>
            </a:r>
            <a:endParaRPr lang="en-US" sz="1560" dirty="0"/>
          </a:p>
        </p:txBody>
      </p:sp>
      <p:sp>
        <p:nvSpPr>
          <p:cNvPr id="17" name="Text 15"/>
          <p:cNvSpPr txBox="1"/>
          <p:nvPr/>
        </p:nvSpPr>
        <p:spPr>
          <a:xfrm>
            <a:off x="6528816" y="2788920"/>
            <a:ext cx="2093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time lost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6528816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Typing or handwriting every prescription eats consult time that should go to the patient.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134856" y="1783080"/>
            <a:ext cx="2606040" cy="2880360"/>
          </a:xfrm>
          <a:prstGeom prst="roundRect">
            <a:avLst>
              <a:gd name="adj" fmla="val 4211"/>
            </a:avLst>
          </a:prstGeom>
          <a:solidFill>
            <a:srgbClr val="F2F7F7"/>
          </a:solidFill>
          <a:ln/>
          <a:effectLst>
            <a:outerShdw sx="100000" sy="100000" kx="0" ky="0" algn="bl" rotWithShape="0" blurRad="101600" dist="38100" dir="5400000">
              <a:srgbClr val="1B2B2E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427464" y="2075688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427464" y="20756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dirty="0">
                <a:solidFill>
                  <a:srgbClr val="0B4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💊</a:t>
            </a:r>
            <a:endParaRPr lang="en-US" sz="1560" dirty="0"/>
          </a:p>
        </p:txBody>
      </p:sp>
      <p:sp>
        <p:nvSpPr>
          <p:cNvPr id="22" name="Text 20"/>
          <p:cNvSpPr txBox="1"/>
          <p:nvPr/>
        </p:nvSpPr>
        <p:spPr>
          <a:xfrm>
            <a:off x="9390888" y="2788920"/>
            <a:ext cx="2093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Illegible pharmacy orders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9390888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Pharmacies re-key or guess at handwriting, causing delays and dosage risk.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074920"/>
            <a:ext cx="11094415" cy="1051560"/>
          </a:xfrm>
          <a:prstGeom prst="roundRect">
            <a:avLst>
              <a:gd name="adj" fmla="val 8696"/>
            </a:avLst>
          </a:prstGeom>
          <a:solidFill>
            <a:srgbClr val="0B4F6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68680" y="5230368"/>
            <a:ext cx="104543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~17,000 of 1.3 lakh 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ABDM-enabled facilities nationally are private-sector — the small-clinic digitisation gap the mission itself has flagged.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EXISTING TOOLS DON'T FIT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Ambient scribes exist — they weren't built for this market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468880" cy="502920"/>
          </a:xfrm>
          <a:prstGeom prst="rect">
            <a:avLst/>
          </a:prstGeom>
          <a:solidFill>
            <a:srgbClr val="0B4F6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691640"/>
            <a:ext cx="2322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017520" y="1691640"/>
            <a:ext cx="2011680" cy="502920"/>
          </a:xfrm>
          <a:prstGeom prst="rect">
            <a:avLst/>
          </a:prstGeom>
          <a:solidFill>
            <a:srgbClr val="0B4F6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090672" y="1691640"/>
            <a:ext cx="1865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Suki AI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0" y="1691640"/>
            <a:ext cx="2606040" cy="502920"/>
          </a:xfrm>
          <a:prstGeom prst="rect">
            <a:avLst/>
          </a:prstGeom>
          <a:solidFill>
            <a:srgbClr val="0B4F6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102352" y="1691640"/>
            <a:ext cx="2459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Nuance DAX (Dragon Copilot)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35240" y="1691640"/>
            <a:ext cx="1965960" cy="502920"/>
          </a:xfrm>
          <a:prstGeom prst="rect">
            <a:avLst/>
          </a:prstGeom>
          <a:solidFill>
            <a:srgbClr val="0B4F6C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08392" y="1691640"/>
            <a:ext cx="1819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Abridge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601200" y="1691640"/>
            <a:ext cx="2011680" cy="502920"/>
          </a:xfrm>
          <a:prstGeom prst="rect">
            <a:avLst/>
          </a:prstGeom>
          <a:solidFill>
            <a:srgbClr val="00A89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74352" y="1691640"/>
            <a:ext cx="1865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VaidyaVani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2194560"/>
            <a:ext cx="2468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" y="219456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/ provider / month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017520" y="2194560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090672" y="2194560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$299 – $399+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0" y="2194560"/>
            <a:ext cx="26060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02352" y="2194560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~$369 – $600+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635240" y="2194560"/>
            <a:ext cx="1965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08392" y="2194560"/>
            <a:ext cx="1819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~$208 – $300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601200" y="2194560"/>
            <a:ext cx="2011680" cy="566928"/>
          </a:xfrm>
          <a:prstGeom prst="rect">
            <a:avLst/>
          </a:prstGeom>
          <a:solidFill>
            <a:srgbClr val="E4F6F1"/>
          </a:solidFill>
          <a:ln w="9525">
            <a:solidFill>
              <a:srgbClr val="E1E8E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674352" y="2194560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66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free-tier cloud APIs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2761488"/>
            <a:ext cx="2468880" cy="566928"/>
          </a:xfrm>
          <a:prstGeom prst="rect">
            <a:avLst/>
          </a:prstGeom>
          <a:solidFill>
            <a:srgbClr val="F2F7F7"/>
          </a:solidFill>
          <a:ln w="9525">
            <a:solidFill>
              <a:srgbClr val="E1E8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" y="2761488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support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017520" y="2761488"/>
            <a:ext cx="2011680" cy="566928"/>
          </a:xfrm>
          <a:prstGeom prst="rect">
            <a:avLst/>
          </a:prstGeom>
          <a:solidFill>
            <a:srgbClr val="F2F7F7"/>
          </a:solidFill>
          <a:ln w="9525">
            <a:solidFill>
              <a:srgbClr val="E1E8E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090672" y="2761488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English-only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029200" y="2761488"/>
            <a:ext cx="2606040" cy="566928"/>
          </a:xfrm>
          <a:prstGeom prst="rect">
            <a:avLst/>
          </a:prstGeom>
          <a:solidFill>
            <a:srgbClr val="F2F7F7"/>
          </a:solidFill>
          <a:ln w="9525">
            <a:solidFill>
              <a:srgbClr val="E1E8E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102352" y="27614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English-only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635240" y="2761488"/>
            <a:ext cx="1965960" cy="566928"/>
          </a:xfrm>
          <a:prstGeom prst="rect">
            <a:avLst/>
          </a:prstGeom>
          <a:solidFill>
            <a:srgbClr val="F2F7F7"/>
          </a:solidFill>
          <a:ln w="9525">
            <a:solidFill>
              <a:srgbClr val="E1E8E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08392" y="2761488"/>
            <a:ext cx="1819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English-only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9601200" y="2761488"/>
            <a:ext cx="2011680" cy="566928"/>
          </a:xfrm>
          <a:prstGeom prst="rect">
            <a:avLst/>
          </a:prstGeom>
          <a:solidFill>
            <a:srgbClr val="E4F6F1"/>
          </a:solidFill>
          <a:ln w="9525">
            <a:solidFill>
              <a:srgbClr val="E1E8E9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674352" y="2761488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66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English, Hindi, Tamil (Hinglish/Tanglish)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48640" y="3328416"/>
            <a:ext cx="24688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21792" y="3328416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017520" y="3328416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090672" y="3328416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ambulatory EHR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029200" y="3328416"/>
            <a:ext cx="26060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102352" y="3328416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/ Cerner, enterprise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7635240" y="3328416"/>
            <a:ext cx="1965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1E8E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708392" y="3328416"/>
            <a:ext cx="1819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health systems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9601200" y="3328416"/>
            <a:ext cx="2011680" cy="566928"/>
          </a:xfrm>
          <a:prstGeom prst="rect">
            <a:avLst/>
          </a:prstGeom>
          <a:solidFill>
            <a:srgbClr val="E4F6F1"/>
          </a:solidFill>
          <a:ln w="9525">
            <a:solidFill>
              <a:srgbClr val="E1E8E9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674352" y="3328416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66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Tier-2/3 Indian hospitals, no EHR needed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48640" y="3895344"/>
            <a:ext cx="2468880" cy="566928"/>
          </a:xfrm>
          <a:prstGeom prst="rect">
            <a:avLst/>
          </a:prstGeom>
          <a:solidFill>
            <a:srgbClr val="F2F7F7"/>
          </a:solidFill>
          <a:ln w="9525">
            <a:solidFill>
              <a:srgbClr val="E1E8E9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1792" y="3895344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017520" y="3895344"/>
            <a:ext cx="2011680" cy="566928"/>
          </a:xfrm>
          <a:prstGeom prst="rect">
            <a:avLst/>
          </a:prstGeom>
          <a:solidFill>
            <a:srgbClr val="F2F7F7"/>
          </a:solidFill>
          <a:ln w="9525">
            <a:solidFill>
              <a:srgbClr val="E1E8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090672" y="3895344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EHR plug-in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5029200" y="3895344"/>
            <a:ext cx="2606040" cy="566928"/>
          </a:xfrm>
          <a:prstGeom prst="rect">
            <a:avLst/>
          </a:prstGeom>
          <a:solidFill>
            <a:srgbClr val="F2F7F7"/>
          </a:solidFill>
          <a:ln w="9525">
            <a:solidFill>
              <a:srgbClr val="E1E8E9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102352" y="3895344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EHR plug-in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7635240" y="3895344"/>
            <a:ext cx="1965960" cy="566928"/>
          </a:xfrm>
          <a:prstGeom prst="rect">
            <a:avLst/>
          </a:prstGeom>
          <a:solidFill>
            <a:srgbClr val="F2F7F7"/>
          </a:solidFill>
          <a:ln w="9525">
            <a:solidFill>
              <a:srgbClr val="E1E8E9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708392" y="3895344"/>
            <a:ext cx="1819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EHR plug-in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9601200" y="3895344"/>
            <a:ext cx="2011680" cy="566928"/>
          </a:xfrm>
          <a:prstGeom prst="rect">
            <a:avLst/>
          </a:prstGeom>
          <a:solidFill>
            <a:srgbClr val="E4F6F1"/>
          </a:solidFill>
          <a:ln w="9525">
            <a:solidFill>
              <a:srgbClr val="E1E8E9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674352" y="3895344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66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Phone-to-desk sync via Office Kit</a:t>
            </a:r>
            <a:endParaRPr lang="en-US" sz="1150" dirty="0"/>
          </a:p>
        </p:txBody>
      </p:sp>
      <p:sp>
        <p:nvSpPr>
          <p:cNvPr id="54" name="Text 52"/>
          <p:cNvSpPr txBox="1"/>
          <p:nvPr/>
        </p:nvSpPr>
        <p:spPr>
          <a:xfrm>
            <a:off x="548640" y="4599432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vendor &amp; third-party 2026 pricing aggregations (Suki AI, Nuance DAX / Dragon Copilot, Abridge); National Health Authority ABDM adoption data.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30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phone, one flow, one patient record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VaidyaVani turns what already happens in a consult — talking and looking at old paperwork — into structured data, without asking the doctor to type anything.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514600" cy="3291840"/>
          </a:xfrm>
          <a:prstGeom prst="roundRect">
            <a:avLst>
              <a:gd name="adj" fmla="val 4364"/>
            </a:avLst>
          </a:prstGeom>
          <a:solidFill>
            <a:srgbClr val="0E3F4F"/>
          </a:solidFill>
          <a:ln/>
        </p:spPr>
      </p:sp>
      <p:sp>
        <p:nvSpPr>
          <p:cNvPr id="6" name="Shape 4"/>
          <p:cNvSpPr/>
          <p:nvPr/>
        </p:nvSpPr>
        <p:spPr>
          <a:xfrm>
            <a:off x="1440180" y="2651760"/>
            <a:ext cx="731520" cy="7315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40180" y="2651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🎙️</a:t>
            </a:r>
            <a:endParaRPr lang="en-US" sz="208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496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5661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Dictate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02336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B9CD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speaks the prescription into the iQOO phone — medicine, dose, frequency, duration.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081528" y="370332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355848" y="2331720"/>
            <a:ext cx="2514600" cy="3291840"/>
          </a:xfrm>
          <a:prstGeom prst="roundRect">
            <a:avLst>
              <a:gd name="adj" fmla="val 4364"/>
            </a:avLst>
          </a:prstGeom>
          <a:solidFill>
            <a:srgbClr val="0E3F4F"/>
          </a:solidFill>
          <a:ln/>
        </p:spPr>
      </p:sp>
      <p:sp>
        <p:nvSpPr>
          <p:cNvPr id="13" name="Shape 11"/>
          <p:cNvSpPr/>
          <p:nvPr/>
        </p:nvSpPr>
        <p:spPr>
          <a:xfrm>
            <a:off x="4247388" y="2651760"/>
            <a:ext cx="731520" cy="7315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247388" y="2651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📷</a:t>
            </a:r>
            <a:endParaRPr lang="en-US" sz="2080" dirty="0"/>
          </a:p>
        </p:txBody>
      </p:sp>
      <p:sp>
        <p:nvSpPr>
          <p:cNvPr id="15" name="Text 13"/>
          <p:cNvSpPr txBox="1"/>
          <p:nvPr/>
        </p:nvSpPr>
        <p:spPr>
          <a:xfrm>
            <a:off x="3520440" y="2496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538728" y="35661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Scan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3584448" y="402336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B9CD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photograph old paper prescriptions / lab reports to backfill history.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888736" y="370332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163056" y="2331720"/>
            <a:ext cx="2514600" cy="3291840"/>
          </a:xfrm>
          <a:prstGeom prst="roundRect">
            <a:avLst>
              <a:gd name="adj" fmla="val 4364"/>
            </a:avLst>
          </a:prstGeom>
          <a:solidFill>
            <a:srgbClr val="0E3F4F"/>
          </a:solidFill>
          <a:ln/>
        </p:spPr>
      </p:sp>
      <p:sp>
        <p:nvSpPr>
          <p:cNvPr id="20" name="Shape 18"/>
          <p:cNvSpPr/>
          <p:nvPr/>
        </p:nvSpPr>
        <p:spPr>
          <a:xfrm>
            <a:off x="7054596" y="2651760"/>
            <a:ext cx="731520" cy="7315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054596" y="2651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🧩</a:t>
            </a:r>
            <a:endParaRPr lang="en-US" sz="2080" dirty="0"/>
          </a:p>
        </p:txBody>
      </p:sp>
      <p:sp>
        <p:nvSpPr>
          <p:cNvPr id="22" name="Text 20"/>
          <p:cNvSpPr txBox="1"/>
          <p:nvPr/>
        </p:nvSpPr>
        <p:spPr>
          <a:xfrm>
            <a:off x="6327648" y="2496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345936" y="35661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6391656" y="402336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B9CD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feed one patient record: visit timeline, current medicines, insurance info.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695944" y="370332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8970264" y="2331720"/>
            <a:ext cx="2514600" cy="3291840"/>
          </a:xfrm>
          <a:prstGeom prst="roundRect">
            <a:avLst>
              <a:gd name="adj" fmla="val 4364"/>
            </a:avLst>
          </a:prstGeom>
          <a:solidFill>
            <a:srgbClr val="0E3F4F"/>
          </a:solidFill>
          <a:ln/>
        </p:spPr>
      </p:sp>
      <p:sp>
        <p:nvSpPr>
          <p:cNvPr id="27" name="Shape 25"/>
          <p:cNvSpPr/>
          <p:nvPr/>
        </p:nvSpPr>
        <p:spPr>
          <a:xfrm>
            <a:off x="9861804" y="2651760"/>
            <a:ext cx="731520" cy="7315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861804" y="2651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</a:t>
            </a:r>
            <a:endParaRPr lang="en-US" sz="2080" dirty="0"/>
          </a:p>
        </p:txBody>
      </p:sp>
      <p:sp>
        <p:nvSpPr>
          <p:cNvPr id="29" name="Text 27"/>
          <p:cNvSpPr txBox="1"/>
          <p:nvPr/>
        </p:nvSpPr>
        <p:spPr>
          <a:xfrm>
            <a:off x="9134856" y="2496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153144" y="35661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Sync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9198864" y="402336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B9CD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syncs via Office Kit to the front-desk / pharmacy laptop dashboard.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8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CLICKABLE MOCKUP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screens, running end to end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75488" y="1435608"/>
            <a:ext cx="2478024" cy="4078224"/>
          </a:xfrm>
          <a:prstGeom prst="roundRect">
            <a:avLst>
              <a:gd name="adj" fmla="val 3690"/>
            </a:avLst>
          </a:prstGeom>
          <a:solidFill>
            <a:srgbClr val="F2F7F7"/>
          </a:solidFill>
          <a:ln w="12700">
            <a:solidFill>
              <a:srgbClr val="E1E8E9"/>
            </a:solidFill>
            <a:prstDash val="solid"/>
          </a:ln>
          <a:effectLst>
            <a:outerShdw sx="100000" sy="100000" kx="0" ky="0" algn="bl" rotWithShape="0" blurRad="76200" dist="25400" dir="5400000">
              <a:srgbClr val="1B2B2E">
                <a:alpha val="15000"/>
              </a:srgbClr>
            </a:outerShdw>
          </a:effectLst>
        </p:spPr>
      </p:sp>
      <p:pic>
        <p:nvPicPr>
          <p:cNvPr id="5" name="Image 0" descr="/home/user/IQOO/docs/screenshots/01_dict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08760"/>
            <a:ext cx="2331720" cy="3931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56869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Dictation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861304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to record the spoken prescription.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063240" y="1435608"/>
            <a:ext cx="2478024" cy="4078224"/>
          </a:xfrm>
          <a:prstGeom prst="roundRect">
            <a:avLst>
              <a:gd name="adj" fmla="val 3690"/>
            </a:avLst>
          </a:prstGeom>
          <a:solidFill>
            <a:srgbClr val="F2F7F7"/>
          </a:solidFill>
          <a:ln w="12700">
            <a:solidFill>
              <a:srgbClr val="E1E8E9"/>
            </a:solidFill>
            <a:prstDash val="solid"/>
          </a:ln>
          <a:effectLst>
            <a:outerShdw sx="100000" sy="100000" kx="0" ky="0" algn="bl" rotWithShape="0" blurRad="76200" dist="25400" dir="5400000">
              <a:srgbClr val="1B2B2E">
                <a:alpha val="15000"/>
              </a:srgbClr>
            </a:outerShdw>
          </a:effectLst>
        </p:spPr>
      </p:sp>
      <p:pic>
        <p:nvPicPr>
          <p:cNvPr id="9" name="Image 1" descr="/home/user/IQOO/docs/screenshots/02_confirmati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136392" y="1508760"/>
            <a:ext cx="2331720" cy="3931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136392" y="556869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Confirm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3136392" y="5861304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fields — doctor reviews before saving.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5650992" y="1435608"/>
            <a:ext cx="2478024" cy="4078224"/>
          </a:xfrm>
          <a:prstGeom prst="roundRect">
            <a:avLst>
              <a:gd name="adj" fmla="val 3690"/>
            </a:avLst>
          </a:prstGeom>
          <a:solidFill>
            <a:srgbClr val="F2F7F7"/>
          </a:solidFill>
          <a:ln w="12700">
            <a:solidFill>
              <a:srgbClr val="E1E8E9"/>
            </a:solidFill>
            <a:prstDash val="solid"/>
          </a:ln>
          <a:effectLst>
            <a:outerShdw sx="100000" sy="100000" kx="0" ky="0" algn="bl" rotWithShape="0" blurRad="76200" dist="25400" dir="5400000">
              <a:srgbClr val="1B2B2E">
                <a:alpha val="15000"/>
              </a:srgbClr>
            </a:outerShdw>
          </a:effectLst>
        </p:spPr>
      </p:sp>
      <p:pic>
        <p:nvPicPr>
          <p:cNvPr id="13" name="Image 2" descr="/home/user/IQOO/docs/screenshots/03_timelin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724144" y="1508760"/>
            <a:ext cx="2331720" cy="39319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724144" y="556869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Timeline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724144" y="5861304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history, insurance, and records in one view.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8238744" y="1435608"/>
            <a:ext cx="2478024" cy="4078224"/>
          </a:xfrm>
          <a:prstGeom prst="roundRect">
            <a:avLst>
              <a:gd name="adj" fmla="val 3690"/>
            </a:avLst>
          </a:prstGeom>
          <a:solidFill>
            <a:srgbClr val="F2F7F7"/>
          </a:solidFill>
          <a:ln w="12700">
            <a:solidFill>
              <a:srgbClr val="E1E8E9"/>
            </a:solidFill>
            <a:prstDash val="solid"/>
          </a:ln>
          <a:effectLst>
            <a:outerShdw sx="100000" sy="100000" kx="0" ky="0" algn="bl" rotWithShape="0" blurRad="76200" dist="25400" dir="5400000">
              <a:srgbClr val="1B2B2E">
                <a:alpha val="15000"/>
              </a:srgbClr>
            </a:outerShdw>
          </a:effectLst>
        </p:spPr>
      </p:sp>
      <p:pic>
        <p:nvPicPr>
          <p:cNvPr id="17" name="Image 3" descr="/home/user/IQOO/docs/screenshots/04_summary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311896" y="1508760"/>
            <a:ext cx="2331720" cy="39319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311896" y="556869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Dashboard sync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8311896" y="5861304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One-screen summary synced to the pharmacy via Office Kit.</a:t>
            </a:r>
            <a:endParaRPr lang="en-US" sz="1000" dirty="0"/>
          </a:p>
        </p:txBody>
      </p:sp>
      <p:sp>
        <p:nvSpPr>
          <p:cNvPr id="20" name="Text 1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CONCEPT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extraction pipeline runs — on real multilingual samples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doctor-patient audio → Groq Whisper-large-v3 transcription → Groq Qwen structured extraction  •  prescription photo → Groq Qwen vision → structured JSON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conversations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1417320" cy="384048"/>
          </a:xfrm>
          <a:prstGeom prst="rect">
            <a:avLst/>
          </a:prstGeom>
          <a:solidFill>
            <a:srgbClr val="00A896"/>
          </a:solidFill>
          <a:ln w="6350">
            <a:solidFill>
              <a:srgbClr val="E1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03504" y="2331720"/>
            <a:ext cx="1307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965960" y="2331720"/>
            <a:ext cx="1188720" cy="384048"/>
          </a:xfrm>
          <a:prstGeom prst="rect">
            <a:avLst/>
          </a:prstGeom>
          <a:solidFill>
            <a:srgbClr val="00A896"/>
          </a:solidFill>
          <a:ln w="6350">
            <a:solidFill>
              <a:srgbClr val="E1E8E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020824" y="2331720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154680" y="2331720"/>
            <a:ext cx="2926080" cy="384048"/>
          </a:xfrm>
          <a:prstGeom prst="rect">
            <a:avLst/>
          </a:prstGeom>
          <a:solidFill>
            <a:srgbClr val="00A896"/>
          </a:solidFill>
          <a:ln w="6350">
            <a:solidFill>
              <a:srgbClr val="E1E8E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9544" y="2331720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715768"/>
            <a:ext cx="14173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8E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3504" y="2715768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audio_01.mp4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965960" y="2715768"/>
            <a:ext cx="11887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8E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020824" y="2715768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154680" y="2715768"/>
            <a:ext cx="29260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8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09544" y="2715768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Paracetamol regimen correct; patient name misheard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3172968"/>
            <a:ext cx="1417320" cy="457200"/>
          </a:xfrm>
          <a:prstGeom prst="rect">
            <a:avLst/>
          </a:prstGeom>
          <a:solidFill>
            <a:srgbClr val="F2F7F7"/>
          </a:solidFill>
          <a:ln w="6350">
            <a:solidFill>
              <a:srgbClr val="E1E8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03504" y="3172968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audio_02.mp4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965960" y="3172968"/>
            <a:ext cx="1188720" cy="457200"/>
          </a:xfrm>
          <a:prstGeom prst="rect">
            <a:avLst/>
          </a:prstGeom>
          <a:solidFill>
            <a:srgbClr val="F2F7F7"/>
          </a:solidFill>
          <a:ln w="6350">
            <a:solidFill>
              <a:srgbClr val="E1E8E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020824" y="3172968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Hinglish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154680" y="3172968"/>
            <a:ext cx="2926080" cy="457200"/>
          </a:xfrm>
          <a:prstGeom prst="rect">
            <a:avLst/>
          </a:prstGeom>
          <a:solidFill>
            <a:srgbClr val="F2F7F7"/>
          </a:solidFill>
          <a:ln w="6350">
            <a:solidFill>
              <a:srgbClr val="E1E8E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209544" y="3172968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Cetirizine regimen correct, normalized to English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3630168"/>
            <a:ext cx="14173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8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3504" y="3630168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audio_03.mp4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1965960" y="3630168"/>
            <a:ext cx="11887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8E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020824" y="3630168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Tanglish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154680" y="3630168"/>
            <a:ext cx="29260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8E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09544" y="3630168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medicines corrected; regimen mostly normalized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6355080" y="1965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Prescription images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355080" y="2331720"/>
            <a:ext cx="1051560" cy="384048"/>
          </a:xfrm>
          <a:prstGeom prst="rect">
            <a:avLst/>
          </a:prstGeom>
          <a:solidFill>
            <a:srgbClr val="00A896"/>
          </a:solidFill>
          <a:ln w="6350">
            <a:solidFill>
              <a:srgbClr val="E1E8E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09944" y="2331720"/>
            <a:ext cx="941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406640" y="2331720"/>
            <a:ext cx="1417320" cy="384048"/>
          </a:xfrm>
          <a:prstGeom prst="rect">
            <a:avLst/>
          </a:prstGeom>
          <a:solidFill>
            <a:srgbClr val="00A896"/>
          </a:solidFill>
          <a:ln w="6350">
            <a:solidFill>
              <a:srgbClr val="E1E8E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461504" y="2331720"/>
            <a:ext cx="1307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823960" y="2331720"/>
            <a:ext cx="2816352" cy="384048"/>
          </a:xfrm>
          <a:prstGeom prst="rect">
            <a:avLst/>
          </a:prstGeom>
          <a:solidFill>
            <a:srgbClr val="00A896"/>
          </a:solidFill>
          <a:ln w="6350">
            <a:solidFill>
              <a:srgbClr val="E1E8E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878824" y="2331720"/>
            <a:ext cx="2706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355080" y="2715768"/>
            <a:ext cx="10515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8E9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409944" y="2715768"/>
            <a:ext cx="941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image_01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406640" y="2715768"/>
            <a:ext cx="14173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8E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461504" y="2715768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handwriting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8823960" y="2715768"/>
            <a:ext cx="281635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8E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878824" y="2715768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medicine rows detected; 1 name unclear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355080" y="3172968"/>
            <a:ext cx="1051560" cy="457200"/>
          </a:xfrm>
          <a:prstGeom prst="rect">
            <a:avLst/>
          </a:prstGeom>
          <a:solidFill>
            <a:srgbClr val="F2F7F7"/>
          </a:solidFill>
          <a:ln w="6350">
            <a:solidFill>
              <a:srgbClr val="E1E8E9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409944" y="3172968"/>
            <a:ext cx="941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image_02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406640" y="3172968"/>
            <a:ext cx="1417320" cy="457200"/>
          </a:xfrm>
          <a:prstGeom prst="rect">
            <a:avLst/>
          </a:prstGeom>
          <a:solidFill>
            <a:srgbClr val="F2F7F7"/>
          </a:solidFill>
          <a:ln w="6350">
            <a:solidFill>
              <a:srgbClr val="E1E8E9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461504" y="3172968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/ illegible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823960" y="3172968"/>
            <a:ext cx="2816352" cy="457200"/>
          </a:xfrm>
          <a:prstGeom prst="rect">
            <a:avLst/>
          </a:prstGeom>
          <a:solidFill>
            <a:srgbClr val="F2F7F7"/>
          </a:solidFill>
          <a:ln w="6350">
            <a:solidFill>
              <a:srgbClr val="E1E8E9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878824" y="3172968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confidence — flags for manual review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355080" y="3630168"/>
            <a:ext cx="10515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8E9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409944" y="3630168"/>
            <a:ext cx="941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image_03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7406640" y="3630168"/>
            <a:ext cx="14173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8E9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461504" y="3630168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823960" y="3630168"/>
            <a:ext cx="281635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8E9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8878824" y="3630168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Medicine + strength detected; frequency ambiguous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548640" y="5212080"/>
            <a:ext cx="11094415" cy="960120"/>
          </a:xfrm>
          <a:prstGeom prst="roundRect">
            <a:avLst>
              <a:gd name="adj" fmla="val 9524"/>
            </a:avLst>
          </a:prstGeom>
          <a:solidFill>
            <a:srgbClr val="0B4F6C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868680" y="5349240"/>
            <a:ext cx="104543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 proves end-to-end multilingual conversation and image extraction is feasible on free-tier APIs — every generated record is shown as an editable draft, with low-confidence fields flagged for the doctor to confirm before saving.</a:t>
            </a:r>
            <a:endParaRPr lang="en-US" sz="1250" dirty="0"/>
          </a:p>
        </p:txBody>
      </p:sp>
      <p:sp>
        <p:nvSpPr>
          <p:cNvPr id="57" name="Text 5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Priced and built for the hospitals incumbents skip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257800" cy="1234440"/>
          </a:xfrm>
          <a:prstGeom prst="roundRect">
            <a:avLst>
              <a:gd name="adj" fmla="val 7407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88820"/>
            <a:ext cx="640080" cy="640080"/>
          </a:xfrm>
          <a:prstGeom prst="ellipse">
            <a:avLst/>
          </a:prstGeom>
          <a:solidFill>
            <a:srgbClr val="0B4F6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888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</a:t>
            </a:r>
            <a:endParaRPr lang="en-US" sz="182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83794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Free-tier cost base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19456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free-plan Groq Whisper + vision limits today; a paid tier would still undercut $200–$600/month Western scribes by an order of magnitude.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26480" y="1691640"/>
            <a:ext cx="5257800" cy="1234440"/>
          </a:xfrm>
          <a:prstGeom prst="roundRect">
            <a:avLst>
              <a:gd name="adj" fmla="val 7407"/>
            </a:avLst>
          </a:prstGeom>
          <a:solidFill>
            <a:srgbClr val="F2F7F7"/>
          </a:solidFill>
          <a:ln/>
        </p:spPr>
      </p:sp>
      <p:sp>
        <p:nvSpPr>
          <p:cNvPr id="10" name="Shape 8"/>
          <p:cNvSpPr/>
          <p:nvPr/>
        </p:nvSpPr>
        <p:spPr>
          <a:xfrm>
            <a:off x="6355080" y="1988820"/>
            <a:ext cx="640080" cy="640080"/>
          </a:xfrm>
          <a:prstGeom prst="ellipse">
            <a:avLst/>
          </a:prstGeom>
          <a:solidFill>
            <a:srgbClr val="0B4F6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55080" y="19888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🗣️</a:t>
            </a:r>
            <a:endParaRPr lang="en-US" sz="1820" dirty="0"/>
          </a:p>
        </p:txBody>
      </p:sp>
      <p:sp>
        <p:nvSpPr>
          <p:cNvPr id="12" name="Text 10"/>
          <p:cNvSpPr txBox="1"/>
          <p:nvPr/>
        </p:nvSpPr>
        <p:spPr>
          <a:xfrm>
            <a:off x="7178040" y="183794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by design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7178040" y="219456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on English, Hinglish and Tanglish conversations — not English-only dictation.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200400"/>
            <a:ext cx="5257800" cy="1234440"/>
          </a:xfrm>
          <a:prstGeom prst="roundRect">
            <a:avLst>
              <a:gd name="adj" fmla="val 7407"/>
            </a:avLst>
          </a:prstGeom>
          <a:solidFill>
            <a:srgbClr val="F2F7F7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3497580"/>
            <a:ext cx="640080" cy="640080"/>
          </a:xfrm>
          <a:prstGeom prst="ellipse">
            <a:avLst/>
          </a:prstGeom>
          <a:solidFill>
            <a:srgbClr val="0B4F6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34975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🏥</a:t>
            </a:r>
            <a:endParaRPr lang="en-US" sz="182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34670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EHR required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37033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standalone for hospitals with no Epic/Cerner — syncs phone-to-desk via Office Kit instead of a deep EHR integration project.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26480" y="3200400"/>
            <a:ext cx="5257800" cy="1234440"/>
          </a:xfrm>
          <a:prstGeom prst="roundRect">
            <a:avLst>
              <a:gd name="adj" fmla="val 7407"/>
            </a:avLst>
          </a:prstGeom>
          <a:solidFill>
            <a:srgbClr val="F2F7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355080" y="3497580"/>
            <a:ext cx="640080" cy="640080"/>
          </a:xfrm>
          <a:prstGeom prst="ellipse">
            <a:avLst/>
          </a:prstGeom>
          <a:solidFill>
            <a:srgbClr val="0B4F6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355080" y="34975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1820" dirty="0"/>
          </a:p>
        </p:txBody>
      </p:sp>
      <p:sp>
        <p:nvSpPr>
          <p:cNvPr id="22" name="Text 20"/>
          <p:cNvSpPr txBox="1"/>
          <p:nvPr/>
        </p:nvSpPr>
        <p:spPr>
          <a:xfrm>
            <a:off x="7178040" y="334670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Confirmation-first UX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37033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field is an editable draft; low-confidence fields are flagged — designed around the POC's own accuracy limits, not against them.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SELECTED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30-hour build scope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idea-submission prototype is a mockup + a feasibility script, deliberately. Here's what the 30-hour round adds: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0A89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1993392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Office Kit sync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1993392"/>
            <a:ext cx="7178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simulated sync alert with an actual phone-to-laptop bridge (screen mirror or file transfer) to a working dashboard.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57860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0A89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560320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dashboard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434840" y="2560320"/>
            <a:ext cx="7178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front-desk/pharmacy screen that receives synced records, not a mock alert.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145536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0A89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145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127248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mockup to the POC pipeline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434840" y="3127248"/>
            <a:ext cx="7178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the app's dictation/OCR screens to the extract.py pipeline validated in the POC, in place of demo-mode mock data.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3712464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0A89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3712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3694176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STT for drug vocabulary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434840" y="3694176"/>
            <a:ext cx="7178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common-drug-name recognition on-device to cut latency and API dependence — stretch goal, not core scope.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427939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0A89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4279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4261104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Confirmation-first data model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34840" y="4261104"/>
            <a:ext cx="7178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 every record as a draft with per-field confidence, matching what the POC evaluation showed is necessary.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983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Explicitly out of scope even at 30 hours: full FHIR compliance, production-grade security review, multi-hospital rollout.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30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PRIOR WORK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team, why now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29000" cy="3977640"/>
          </a:xfrm>
          <a:prstGeom prst="roundRect">
            <a:avLst>
              <a:gd name="adj" fmla="val 3200"/>
            </a:avLst>
          </a:prstGeom>
          <a:solidFill>
            <a:srgbClr val="0E3F4F"/>
          </a:solidFill>
          <a:ln/>
        </p:spPr>
      </p:sp>
      <p:sp>
        <p:nvSpPr>
          <p:cNvPr id="5" name="Shape 3"/>
          <p:cNvSpPr/>
          <p:nvPr/>
        </p:nvSpPr>
        <p:spPr>
          <a:xfrm>
            <a:off x="1851660" y="2011680"/>
            <a:ext cx="822960" cy="8229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851660" y="2011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4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👤</a:t>
            </a:r>
            <a:endParaRPr lang="en-US" sz="234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0175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Srinath Balakrishnan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41071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Mockup &amp; App Shell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813048"/>
            <a:ext cx="2880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B9CD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the four-screen Expo/React Native click-through prototype — dictation, confirmation, timeline, and dashboard sync views.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0" y="1691640"/>
            <a:ext cx="3429000" cy="3977640"/>
          </a:xfrm>
          <a:prstGeom prst="roundRect">
            <a:avLst>
              <a:gd name="adj" fmla="val 3200"/>
            </a:avLst>
          </a:prstGeom>
          <a:solidFill>
            <a:srgbClr val="0E3F4F"/>
          </a:solidFill>
          <a:ln/>
        </p:spPr>
      </p:sp>
      <p:sp>
        <p:nvSpPr>
          <p:cNvPr id="11" name="Shape 9"/>
          <p:cNvSpPr/>
          <p:nvPr/>
        </p:nvSpPr>
        <p:spPr>
          <a:xfrm>
            <a:off x="5600700" y="2011680"/>
            <a:ext cx="822960" cy="8229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00700" y="2011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4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👤</a:t>
            </a:r>
            <a:endParaRPr lang="en-US" sz="234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30175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Pranesh 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341071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Proof-of-Concept Pipeline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3813048"/>
            <a:ext cx="2880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B9CD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evaluated the voice/OCR-to-structured-data extraction pipeline across English, Hinglish and Tanglish samples.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46720" y="1691640"/>
            <a:ext cx="3429000" cy="3977640"/>
          </a:xfrm>
          <a:prstGeom prst="roundRect">
            <a:avLst>
              <a:gd name="adj" fmla="val 3200"/>
            </a:avLst>
          </a:prstGeom>
          <a:solidFill>
            <a:srgbClr val="0E3F4F"/>
          </a:solidFill>
          <a:ln/>
        </p:spPr>
      </p:sp>
      <p:sp>
        <p:nvSpPr>
          <p:cNvPr id="17" name="Shape 15"/>
          <p:cNvSpPr/>
          <p:nvPr/>
        </p:nvSpPr>
        <p:spPr>
          <a:xfrm>
            <a:off x="9349740" y="2011680"/>
            <a:ext cx="822960" cy="8229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349740" y="2011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4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👤</a:t>
            </a:r>
            <a:endParaRPr lang="en-US" sz="234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30175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Umasuthan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341071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Deck, Video &amp; Research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3813048"/>
            <a:ext cx="2880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B9CD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AI &amp; Data Science undergrad (Amrita Vishwa Vidyapeetham). ML data-pipeline, biomedical signal-processing and hardware-integration experience, plus two hackathon podiums (NitroStack x Amrita 2026, HackHazards '26) — owns the market research, narrative, and submission package.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8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US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record, not theory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257800" cy="2148840"/>
          </a:xfrm>
          <a:prstGeom prst="roundRect">
            <a:avLst>
              <a:gd name="adj" fmla="val 4255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856232"/>
            <a:ext cx="566928" cy="566928"/>
          </a:xfrm>
          <a:prstGeom prst="ellipse">
            <a:avLst/>
          </a:prstGeom>
          <a:solidFill>
            <a:srgbClr val="0B4F6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8562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</a:t>
            </a:r>
            <a:endParaRPr lang="en-US" sz="1612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80136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record, not theory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404872"/>
            <a:ext cx="4709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Runner-Up — NitroStack x Amrita 2026 (agentic food rescue, shipped + demoed).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51–100 of 6,219 ideas — HackHazards '26 (HaemNet, live blood-dispatch AI).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We've built and defended working products in front of judges, twice.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26480" y="1600200"/>
            <a:ext cx="5257800" cy="2148840"/>
          </a:xfrm>
          <a:prstGeom prst="roundRect">
            <a:avLst>
              <a:gd name="adj" fmla="val 4255"/>
            </a:avLst>
          </a:prstGeom>
          <a:solidFill>
            <a:srgbClr val="F2F7F7"/>
          </a:solidFill>
          <a:ln/>
        </p:spPr>
      </p:sp>
      <p:sp>
        <p:nvSpPr>
          <p:cNvPr id="10" name="Shape 8"/>
          <p:cNvSpPr/>
          <p:nvPr/>
        </p:nvSpPr>
        <p:spPr>
          <a:xfrm>
            <a:off x="6382512" y="1856232"/>
            <a:ext cx="566928" cy="566928"/>
          </a:xfrm>
          <a:prstGeom prst="ellipse">
            <a:avLst/>
          </a:prstGeom>
          <a:solidFill>
            <a:srgbClr val="0B4F6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82512" y="18562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🧭</a:t>
            </a:r>
            <a:endParaRPr lang="en-US" sz="1612" dirty="0"/>
          </a:p>
        </p:txBody>
      </p:sp>
      <p:sp>
        <p:nvSpPr>
          <p:cNvPr id="12" name="Text 10"/>
          <p:cNvSpPr txBox="1"/>
          <p:nvPr/>
        </p:nvSpPr>
        <p:spPr>
          <a:xfrm>
            <a:off x="7132320" y="180136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Range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19088" y="2404872"/>
            <a:ext cx="4709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orchestration + voice AI (Food Rescue, HaemNet). Edge computer vision on real hardware (PrivaSafe: YOLOv8 + GPS on Raspberry Pi). Quantitative ML (RiskLens/VolGraph: LSTM-GNN, ~61% directional accuracy). Exactly the range a phone-first, technically-deep brief rewards.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5257800" cy="2148840"/>
          </a:xfrm>
          <a:prstGeom prst="roundRect">
            <a:avLst>
              <a:gd name="adj" fmla="val 4255"/>
            </a:avLst>
          </a:prstGeom>
          <a:solidFill>
            <a:srgbClr val="F2F7F7"/>
          </a:solidFill>
          <a:ln/>
        </p:spPr>
      </p:sp>
      <p:sp>
        <p:nvSpPr>
          <p:cNvPr id="15" name="Shape 13"/>
          <p:cNvSpPr/>
          <p:nvPr/>
        </p:nvSpPr>
        <p:spPr>
          <a:xfrm>
            <a:off x="804672" y="4233672"/>
            <a:ext cx="566928" cy="566928"/>
          </a:xfrm>
          <a:prstGeom prst="ellipse">
            <a:avLst/>
          </a:prstGeom>
          <a:solidFill>
            <a:srgbClr val="0B4F6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42336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🩺</a:t>
            </a:r>
            <a:endParaRPr lang="en-US" sz="1612" dirty="0"/>
          </a:p>
        </p:txBody>
      </p:sp>
      <p:sp>
        <p:nvSpPr>
          <p:cNvPr id="17" name="Text 15"/>
          <p:cNvSpPr txBox="1"/>
          <p:nvPr/>
        </p:nvSpPr>
        <p:spPr>
          <a:xfrm>
            <a:off x="1554480" y="417880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 edge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4782312"/>
            <a:ext cx="4709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Biomedical signal processing + hardware integration background — we know how to make constrained hardware (Pi, sensors, on-device phone tech) do real computational work, not just act as a display.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26480" y="3977640"/>
            <a:ext cx="5257800" cy="2148840"/>
          </a:xfrm>
          <a:prstGeom prst="roundRect">
            <a:avLst>
              <a:gd name="adj" fmla="val 4255"/>
            </a:avLst>
          </a:prstGeom>
          <a:solidFill>
            <a:srgbClr val="F2F7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382512" y="4233672"/>
            <a:ext cx="566928" cy="566928"/>
          </a:xfrm>
          <a:prstGeom prst="ellipse">
            <a:avLst/>
          </a:prstGeom>
          <a:solidFill>
            <a:srgbClr val="0B4F6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382512" y="42336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</a:t>
            </a:r>
            <a:endParaRPr lang="en-US" sz="1612" dirty="0"/>
          </a:p>
        </p:txBody>
      </p:sp>
      <p:sp>
        <p:nvSpPr>
          <p:cNvPr id="22" name="Text 20"/>
          <p:cNvSpPr txBox="1"/>
          <p:nvPr/>
        </p:nvSpPr>
        <p:spPr>
          <a:xfrm>
            <a:off x="7132320" y="417880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Speed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419088" y="4782312"/>
            <a:ext cx="4709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30-hour build windows are normal for us, not a stretch. Two hackathon podiums came from exactly this kind of sprint.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30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840480"/>
            <a:ext cx="5943600" cy="5943600"/>
          </a:xfrm>
          <a:prstGeom prst="ellipse">
            <a:avLst/>
          </a:prstGeom>
          <a:solidFill>
            <a:srgbClr val="0B4F6C">
              <a:alpha val="6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22860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VaidyaVani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15468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~30-hour MVP away from letting any tier-2/3 hospital doctor speak a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prescription and hand the pharmacy a clean, structured record.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1605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Prototype: 4-screen clickable mockup  •  Feasibility: multilingual voice + OCR extraction POC  •  60–90s walkthrough video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8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VaidyaVani — Srinath Balakrishnan · Pranesh S · Umasuthan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2026-09-08T11:06:54Z</dcterms:created>
  <dcterms:modified xsi:type="dcterms:W3CDTF">2026-09-08T11:06:54Z</dcterms:modified>
</cp:coreProperties>
</file>